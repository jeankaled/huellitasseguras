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azydog" charset="1" panose="00000000000000000000"/>
      <p:regular r:id="rId19"/>
    </p:embeddedFont>
    <p:embeddedFont>
      <p:font typeface="Canva Student Font" charset="1" panose="00000000000000000000"/>
      <p:regular r:id="rId20"/>
    </p:embeddedFont>
    <p:embeddedFont>
      <p:font typeface="Brusher" charset="1" panose="00000500000000000000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7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2760477" y="0"/>
            <a:ext cx="1612144" cy="2828323"/>
          </a:xfrm>
          <a:custGeom>
            <a:avLst/>
            <a:gdLst/>
            <a:ahLst/>
            <a:cxnLst/>
            <a:rect r="r" b="b" t="t" l="l"/>
            <a:pathLst>
              <a:path h="2828323" w="1612144">
                <a:moveTo>
                  <a:pt x="0" y="2828323"/>
                </a:moveTo>
                <a:lnTo>
                  <a:pt x="1612144" y="2828323"/>
                </a:lnTo>
                <a:lnTo>
                  <a:pt x="1612144" y="0"/>
                </a:lnTo>
                <a:lnTo>
                  <a:pt x="0" y="0"/>
                </a:lnTo>
                <a:lnTo>
                  <a:pt x="0" y="28283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22751" y="5875926"/>
            <a:ext cx="13642498" cy="4411074"/>
          </a:xfrm>
          <a:custGeom>
            <a:avLst/>
            <a:gdLst/>
            <a:ahLst/>
            <a:cxnLst/>
            <a:rect r="r" b="b" t="t" l="l"/>
            <a:pathLst>
              <a:path h="4411074" w="13642498">
                <a:moveTo>
                  <a:pt x="0" y="0"/>
                </a:moveTo>
                <a:lnTo>
                  <a:pt x="13642498" y="0"/>
                </a:lnTo>
                <a:lnTo>
                  <a:pt x="13642498" y="4411074"/>
                </a:lnTo>
                <a:lnTo>
                  <a:pt x="0" y="44110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64305" y="505239"/>
            <a:ext cx="13988030" cy="202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118"/>
              </a:lnSpc>
            </a:pPr>
            <a:r>
              <a:rPr lang="en-US" sz="1269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Huellita segura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73780" y="2799748"/>
            <a:ext cx="12712813" cy="115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7"/>
              </a:lnSpc>
            </a:pPr>
            <a:r>
              <a:rPr lang="en-US" sz="3651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Plataforma SaaS Multi-Tenant para la Gestión Integral, Trazabilidad y Respaldo Legal en Adopciones de Animales de Compañía.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8816" y="2602334"/>
            <a:ext cx="5628698" cy="7170316"/>
          </a:xfrm>
          <a:custGeom>
            <a:avLst/>
            <a:gdLst/>
            <a:ahLst/>
            <a:cxnLst/>
            <a:rect r="r" b="b" t="t" l="l"/>
            <a:pathLst>
              <a:path h="7170316" w="5628698">
                <a:moveTo>
                  <a:pt x="0" y="0"/>
                </a:moveTo>
                <a:lnTo>
                  <a:pt x="5628698" y="0"/>
                </a:lnTo>
                <a:lnTo>
                  <a:pt x="5628698" y="7170316"/>
                </a:lnTo>
                <a:lnTo>
                  <a:pt x="0" y="71703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1444" y="323242"/>
            <a:ext cx="12598189" cy="135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808"/>
              </a:lnSpc>
            </a:pPr>
            <a:r>
              <a:rPr lang="en-US" sz="8510">
                <a:solidFill>
                  <a:srgbClr val="000000"/>
                </a:solidFill>
                <a:latin typeface="Brusher"/>
                <a:ea typeface="Brusher"/>
                <a:cs typeface="Brusher"/>
                <a:sym typeface="Brusher"/>
              </a:rPr>
              <a:t>DESCRIPCIÓN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88417" y="2725293"/>
            <a:ext cx="2789496" cy="58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8"/>
              </a:lnSpc>
            </a:pPr>
            <a:r>
              <a:rPr lang="en-US" sz="4185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Problema o dolor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397514" y="7730542"/>
            <a:ext cx="2360386" cy="3055516"/>
          </a:xfrm>
          <a:custGeom>
            <a:avLst/>
            <a:gdLst/>
            <a:ahLst/>
            <a:cxnLst/>
            <a:rect r="r" b="b" t="t" l="l"/>
            <a:pathLst>
              <a:path h="3055516" w="2360386">
                <a:moveTo>
                  <a:pt x="0" y="0"/>
                </a:moveTo>
                <a:lnTo>
                  <a:pt x="2360386" y="0"/>
                </a:lnTo>
                <a:lnTo>
                  <a:pt x="2360386" y="3055516"/>
                </a:lnTo>
                <a:lnTo>
                  <a:pt x="0" y="30555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82295" y="7730542"/>
            <a:ext cx="2464318" cy="2900620"/>
          </a:xfrm>
          <a:custGeom>
            <a:avLst/>
            <a:gdLst/>
            <a:ahLst/>
            <a:cxnLst/>
            <a:rect r="r" b="b" t="t" l="l"/>
            <a:pathLst>
              <a:path h="2900620" w="2464318">
                <a:moveTo>
                  <a:pt x="0" y="0"/>
                </a:moveTo>
                <a:lnTo>
                  <a:pt x="2464318" y="0"/>
                </a:lnTo>
                <a:lnTo>
                  <a:pt x="2464318" y="2900620"/>
                </a:lnTo>
                <a:lnTo>
                  <a:pt x="0" y="29006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933654" y="173256"/>
            <a:ext cx="2009104" cy="2017510"/>
          </a:xfrm>
          <a:custGeom>
            <a:avLst/>
            <a:gdLst/>
            <a:ahLst/>
            <a:cxnLst/>
            <a:rect r="r" b="b" t="t" l="l"/>
            <a:pathLst>
              <a:path h="2017510" w="2009104">
                <a:moveTo>
                  <a:pt x="2009104" y="0"/>
                </a:moveTo>
                <a:lnTo>
                  <a:pt x="0" y="0"/>
                </a:lnTo>
                <a:lnTo>
                  <a:pt x="0" y="2017510"/>
                </a:lnTo>
                <a:lnTo>
                  <a:pt x="2009104" y="2017510"/>
                </a:lnTo>
                <a:lnTo>
                  <a:pt x="2009104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3903" y="3330647"/>
            <a:ext cx="5474025" cy="667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717" indent="-279859" lvl="1">
              <a:lnSpc>
                <a:spcPts val="2773"/>
              </a:lnSpc>
              <a:buFont typeface="Arial"/>
              <a:buChar char="•"/>
            </a:pPr>
            <a:r>
              <a:rPr lang="en-US" sz="2592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Descripción: Actualmente, el </a:t>
            </a:r>
            <a:r>
              <a:rPr lang="en-US" sz="2592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rescate y adopción de animales de compañía en Chile opera mayoritariamente desde la informalidad administrativa. </a:t>
            </a:r>
          </a:p>
          <a:p>
            <a:pPr algn="l" marL="559717" indent="-279859" lvl="1">
              <a:lnSpc>
                <a:spcPts val="2773"/>
              </a:lnSpc>
              <a:buFont typeface="Arial"/>
              <a:buChar char="•"/>
            </a:pPr>
            <a:r>
              <a:rPr lang="en-US" sz="2592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Las fundaciones y refugios carecen de herramientas tecnológicas para cumplir con las obligaciones de la Ley 21.020 (Ley Cholito), como llevar registros y querellarse por maltrato. </a:t>
            </a:r>
          </a:p>
          <a:p>
            <a:pPr algn="l" marL="559717" indent="-279859" lvl="1">
              <a:lnSpc>
                <a:spcPts val="2773"/>
              </a:lnSpc>
              <a:buFont typeface="Arial"/>
              <a:buChar char="•"/>
            </a:pPr>
            <a:r>
              <a:rPr lang="en-US" sz="2592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La gestión actual está atomizada en cuadernos físicos, planillas de Excel desconectadas o contratos de papel sin validez legal que suelen perderse. </a:t>
            </a:r>
          </a:p>
          <a:p>
            <a:pPr algn="l" marL="559717" indent="-279859" lvl="1">
              <a:lnSpc>
                <a:spcPts val="2773"/>
              </a:lnSpc>
              <a:buFont typeface="Arial"/>
              <a:buChar char="•"/>
            </a:pPr>
            <a:r>
              <a:rPr lang="en-US" sz="2592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Esto genera una pérdida crítica de trazabilidad del animal, impidiendo un respaldo jurídico que evite que personas con antecedentes de maltrato vuelvan a adoptar evadiendo el contacto posterior o usando información falsa.</a:t>
            </a:r>
          </a:p>
          <a:p>
            <a:pPr algn="l">
              <a:lnSpc>
                <a:spcPts val="2773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509630" y="2487482"/>
            <a:ext cx="5628698" cy="7170316"/>
          </a:xfrm>
          <a:custGeom>
            <a:avLst/>
            <a:gdLst/>
            <a:ahLst/>
            <a:cxnLst/>
            <a:rect r="r" b="b" t="t" l="l"/>
            <a:pathLst>
              <a:path h="7170316" w="5628698">
                <a:moveTo>
                  <a:pt x="0" y="0"/>
                </a:moveTo>
                <a:lnTo>
                  <a:pt x="5628698" y="0"/>
                </a:lnTo>
                <a:lnTo>
                  <a:pt x="5628698" y="7170316"/>
                </a:lnTo>
                <a:lnTo>
                  <a:pt x="0" y="71703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392620" y="3276852"/>
            <a:ext cx="5745708" cy="627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7497" indent="-293748" lvl="1">
              <a:lnSpc>
                <a:spcPts val="2911"/>
              </a:lnSpc>
              <a:buFont typeface="Arial"/>
              <a:buChar char="•"/>
            </a:pPr>
            <a:r>
              <a:rPr lang="en-US" sz="2721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Descripción: Desarrollar "Huellita Segura", un si</a:t>
            </a:r>
            <a:r>
              <a:rPr lang="en-US" sz="2721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stema de software como servicio (SaaS) centralizado y multi-tenant que empodera tecnológica y legalmente a fundaciones, refugios y municipalidades. </a:t>
            </a:r>
          </a:p>
          <a:p>
            <a:pPr algn="l" marL="587497" indent="-293748" lvl="1">
              <a:lnSpc>
                <a:spcPts val="2911"/>
              </a:lnSpc>
              <a:buFont typeface="Arial"/>
              <a:buChar char="•"/>
            </a:pPr>
            <a:r>
              <a:rPr lang="en-US" sz="2721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La plataforma permitirá gestionar integralmente las fichas clínicas de los animales y formalizar el proceso de adopción mediante contratos digitales vinculantes. </a:t>
            </a:r>
          </a:p>
          <a:p>
            <a:pPr algn="l" marL="587497" indent="-293748" lvl="1">
              <a:lnSpc>
                <a:spcPts val="2911"/>
              </a:lnSpc>
              <a:buFont typeface="Arial"/>
              <a:buChar char="•"/>
            </a:pPr>
            <a:r>
              <a:rPr lang="en-US" sz="2721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Incorporará un filtro de seguridad (KYC ligero) para validar la identidad y contacto del adoptante, un motor de contratos en PDF con firma electrónica simple (FES), y un módulo de respaldo legal que compila automáticamente la evidencia para facilitar denuncias efectivas ante la justicia frente a casos de maltrato. </a:t>
            </a:r>
          </a:p>
          <a:p>
            <a:pPr algn="l">
              <a:lnSpc>
                <a:spcPts val="291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621670" y="2535107"/>
            <a:ext cx="3677434" cy="58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8"/>
              </a:lnSpc>
            </a:pPr>
            <a:r>
              <a:rPr lang="en-US" sz="4185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Propuesta de solución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12457" y="5455186"/>
            <a:ext cx="3575543" cy="4831814"/>
          </a:xfrm>
          <a:custGeom>
            <a:avLst/>
            <a:gdLst/>
            <a:ahLst/>
            <a:cxnLst/>
            <a:rect r="r" b="b" t="t" l="l"/>
            <a:pathLst>
              <a:path h="4831814" w="3575543">
                <a:moveTo>
                  <a:pt x="0" y="0"/>
                </a:moveTo>
                <a:lnTo>
                  <a:pt x="3575543" y="0"/>
                </a:lnTo>
                <a:lnTo>
                  <a:pt x="3575543" y="4831814"/>
                </a:lnTo>
                <a:lnTo>
                  <a:pt x="0" y="48318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67980" y="6990660"/>
            <a:ext cx="2667864" cy="2279913"/>
          </a:xfrm>
          <a:custGeom>
            <a:avLst/>
            <a:gdLst/>
            <a:ahLst/>
            <a:cxnLst/>
            <a:rect r="r" b="b" t="t" l="l"/>
            <a:pathLst>
              <a:path h="2279913" w="2667864">
                <a:moveTo>
                  <a:pt x="0" y="0"/>
                </a:moveTo>
                <a:lnTo>
                  <a:pt x="2667864" y="0"/>
                </a:lnTo>
                <a:lnTo>
                  <a:pt x="2667864" y="2279912"/>
                </a:lnTo>
                <a:lnTo>
                  <a:pt x="0" y="2279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273955" y="8183613"/>
            <a:ext cx="1179275" cy="2059868"/>
          </a:xfrm>
          <a:custGeom>
            <a:avLst/>
            <a:gdLst/>
            <a:ahLst/>
            <a:cxnLst/>
            <a:rect r="r" b="b" t="t" l="l"/>
            <a:pathLst>
              <a:path h="2059868" w="1179275">
                <a:moveTo>
                  <a:pt x="1179275" y="0"/>
                </a:moveTo>
                <a:lnTo>
                  <a:pt x="0" y="0"/>
                </a:lnTo>
                <a:lnTo>
                  <a:pt x="0" y="2059868"/>
                </a:lnTo>
                <a:lnTo>
                  <a:pt x="1179275" y="2059868"/>
                </a:lnTo>
                <a:lnTo>
                  <a:pt x="117927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425961">
            <a:off x="9398534" y="8987262"/>
            <a:ext cx="1150287" cy="882845"/>
          </a:xfrm>
          <a:custGeom>
            <a:avLst/>
            <a:gdLst/>
            <a:ahLst/>
            <a:cxnLst/>
            <a:rect r="r" b="b" t="t" l="l"/>
            <a:pathLst>
              <a:path h="882845" w="1150287">
                <a:moveTo>
                  <a:pt x="0" y="0"/>
                </a:moveTo>
                <a:lnTo>
                  <a:pt x="1150287" y="0"/>
                </a:lnTo>
                <a:lnTo>
                  <a:pt x="1150287" y="882845"/>
                </a:lnTo>
                <a:lnTo>
                  <a:pt x="0" y="8828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16820">
            <a:off x="10872945" y="6935579"/>
            <a:ext cx="1160570" cy="1140260"/>
          </a:xfrm>
          <a:custGeom>
            <a:avLst/>
            <a:gdLst/>
            <a:ahLst/>
            <a:cxnLst/>
            <a:rect r="r" b="b" t="t" l="l"/>
            <a:pathLst>
              <a:path h="1140260" w="1160570">
                <a:moveTo>
                  <a:pt x="0" y="0"/>
                </a:moveTo>
                <a:lnTo>
                  <a:pt x="1160570" y="0"/>
                </a:lnTo>
                <a:lnTo>
                  <a:pt x="1160570" y="1140260"/>
                </a:lnTo>
                <a:lnTo>
                  <a:pt x="0" y="11402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569368" y="599610"/>
            <a:ext cx="2069559" cy="92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5"/>
              </a:lnSpc>
            </a:pPr>
            <a:r>
              <a:rPr lang="en-US" sz="6566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Alcance: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6323" y="2573220"/>
            <a:ext cx="16415355" cy="410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928" indent="-360964" lvl="1">
              <a:lnSpc>
                <a:spcPts val="3577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Gestión Interna (Multi-Tenant): Espacios de trabajo independientes para cada refugio con personalización gráfica, administración de roles y un sistema de fichas clínicas para el control centralizado de vacunas, tratamientos y microchips, apoyado por alertas.</a:t>
            </a:r>
          </a:p>
          <a:p>
            <a:pPr algn="l" marL="721928" indent="-360964" lvl="1">
              <a:lnSpc>
                <a:spcPts val="3577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Trazabi</a:t>
            </a:r>
            <a:r>
              <a:rPr lang="en-US" sz="3343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lida</a:t>
            </a:r>
            <a:r>
              <a:rPr lang="en-US" sz="3343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d Legal y Seguridad: Proceso estricto de verificación de identidad (KYC) y generación automatizada de contratos PDF con firmas digitales y cláusulas penales. Destaca por herramientas de protección como la "Lista Negra Nacional" interconectada y un "Botón Rojo" para derivar denuncias por maltrato directamente a la PDI.</a:t>
            </a:r>
          </a:p>
          <a:p>
            <a:pPr algn="l" marL="743517" indent="-371759" lvl="1">
              <a:lnSpc>
                <a:spcPts val="3684"/>
              </a:lnSpc>
              <a:buFont typeface="Arial"/>
              <a:buChar char="•"/>
            </a:pPr>
            <a:r>
              <a:rPr lang="en-US" sz="3443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Portal Público de Adopción: Interfaz ciudadana con galerías visuales que permite buscar animales mediante filtros específicos (tamaño, edad, compatibilidad) y enviar postulaciones a través de formularios conectados directamente al panel del refugio correspondiente.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37303" y="3283843"/>
            <a:ext cx="5227730" cy="3620203"/>
          </a:xfrm>
          <a:custGeom>
            <a:avLst/>
            <a:gdLst/>
            <a:ahLst/>
            <a:cxnLst/>
            <a:rect r="r" b="b" t="t" l="l"/>
            <a:pathLst>
              <a:path h="3620203" w="5227730">
                <a:moveTo>
                  <a:pt x="0" y="0"/>
                </a:moveTo>
                <a:lnTo>
                  <a:pt x="5227730" y="0"/>
                </a:lnTo>
                <a:lnTo>
                  <a:pt x="5227730" y="3620203"/>
                </a:lnTo>
                <a:lnTo>
                  <a:pt x="0" y="36202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2240" y="7470531"/>
            <a:ext cx="5233472" cy="3898936"/>
          </a:xfrm>
          <a:custGeom>
            <a:avLst/>
            <a:gdLst/>
            <a:ahLst/>
            <a:cxnLst/>
            <a:rect r="r" b="b" t="t" l="l"/>
            <a:pathLst>
              <a:path h="3898936" w="5233472">
                <a:moveTo>
                  <a:pt x="0" y="0"/>
                </a:moveTo>
                <a:lnTo>
                  <a:pt x="5233472" y="0"/>
                </a:lnTo>
                <a:lnTo>
                  <a:pt x="5233472" y="3898936"/>
                </a:lnTo>
                <a:lnTo>
                  <a:pt x="0" y="3898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10198277">
            <a:off x="13101435" y="7102735"/>
            <a:ext cx="2435516" cy="1750527"/>
          </a:xfrm>
          <a:custGeom>
            <a:avLst/>
            <a:gdLst/>
            <a:ahLst/>
            <a:cxnLst/>
            <a:rect r="r" b="b" t="t" l="l"/>
            <a:pathLst>
              <a:path h="1750527" w="2435516">
                <a:moveTo>
                  <a:pt x="2435516" y="1750527"/>
                </a:moveTo>
                <a:lnTo>
                  <a:pt x="0" y="1750527"/>
                </a:lnTo>
                <a:lnTo>
                  <a:pt x="0" y="0"/>
                </a:lnTo>
                <a:lnTo>
                  <a:pt x="2435516" y="0"/>
                </a:lnTo>
                <a:lnTo>
                  <a:pt x="2435516" y="175052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53115" y="3122887"/>
            <a:ext cx="7739791" cy="408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4"/>
              </a:lnSpc>
            </a:pPr>
            <a:r>
              <a:rPr lang="en-US" sz="4303">
                <a:solidFill>
                  <a:srgbClr val="FFFFFF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Sprint 1 - Análisis y Arquitectura</a:t>
            </a:r>
          </a:p>
          <a:p>
            <a:pPr algn="l">
              <a:lnSpc>
                <a:spcPts val="4604"/>
              </a:lnSpc>
            </a:pPr>
            <a:r>
              <a:rPr lang="en-US" sz="4303">
                <a:solidFill>
                  <a:srgbClr val="FFFFFF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Sprint 2 - Desarrollo Backend y Core Administrativo</a:t>
            </a:r>
          </a:p>
          <a:p>
            <a:pPr algn="l">
              <a:lnSpc>
                <a:spcPts val="4604"/>
              </a:lnSpc>
            </a:pPr>
            <a:r>
              <a:rPr lang="en-US" sz="4303">
                <a:solidFill>
                  <a:srgbClr val="FFFFFF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Sprint 3 - Desarrollo Frontend y Módulo Público</a:t>
            </a:r>
          </a:p>
          <a:p>
            <a:pPr algn="l">
              <a:lnSpc>
                <a:spcPts val="4604"/>
              </a:lnSpc>
            </a:pPr>
            <a:r>
              <a:rPr lang="en-US" sz="4303">
                <a:solidFill>
                  <a:srgbClr val="FFFFFF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Sprint 4 - Módulo Legal y Diferenciadores</a:t>
            </a:r>
          </a:p>
          <a:p>
            <a:pPr algn="l">
              <a:lnSpc>
                <a:spcPts val="4604"/>
              </a:lnSpc>
            </a:pPr>
            <a:r>
              <a:rPr lang="en-US" sz="4303">
                <a:solidFill>
                  <a:srgbClr val="FFFFFF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Sprint 5 - Testing y Despliegue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9360" y="841947"/>
            <a:ext cx="14950643" cy="110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70"/>
              </a:lnSpc>
            </a:pPr>
            <a:r>
              <a:rPr lang="en-US" sz="6906">
                <a:solidFill>
                  <a:srgbClr val="FFFFFF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Metodología de trabajo para el desarrollo del proyecto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55639" y="10128587"/>
            <a:ext cx="10908114" cy="984669"/>
            <a:chOff x="0" y="0"/>
            <a:chExt cx="4897639" cy="4421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97639" cy="442107"/>
            </a:xfrm>
            <a:custGeom>
              <a:avLst/>
              <a:gdLst/>
              <a:ahLst/>
              <a:cxnLst/>
              <a:rect r="r" b="b" t="t" l="l"/>
              <a:pathLst>
                <a:path h="442107" w="4897639">
                  <a:moveTo>
                    <a:pt x="0" y="0"/>
                  </a:moveTo>
                  <a:lnTo>
                    <a:pt x="4897639" y="0"/>
                  </a:lnTo>
                  <a:lnTo>
                    <a:pt x="4897639" y="442107"/>
                  </a:lnTo>
                  <a:lnTo>
                    <a:pt x="0" y="442107"/>
                  </a:lnTo>
                  <a:close/>
                </a:path>
              </a:pathLst>
            </a:custGeom>
            <a:solidFill>
              <a:srgbClr val="5BB6D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97639" cy="48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02870" y="7715773"/>
            <a:ext cx="3102695" cy="2594629"/>
          </a:xfrm>
          <a:custGeom>
            <a:avLst/>
            <a:gdLst/>
            <a:ahLst/>
            <a:cxnLst/>
            <a:rect r="r" b="b" t="t" l="l"/>
            <a:pathLst>
              <a:path h="2594629" w="3102695">
                <a:moveTo>
                  <a:pt x="0" y="0"/>
                </a:moveTo>
                <a:lnTo>
                  <a:pt x="3102695" y="0"/>
                </a:lnTo>
                <a:lnTo>
                  <a:pt x="3102695" y="2594629"/>
                </a:lnTo>
                <a:lnTo>
                  <a:pt x="0" y="2594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42" y="8157094"/>
            <a:ext cx="1081417" cy="2035609"/>
          </a:xfrm>
          <a:custGeom>
            <a:avLst/>
            <a:gdLst/>
            <a:ahLst/>
            <a:cxnLst/>
            <a:rect r="r" b="b" t="t" l="l"/>
            <a:pathLst>
              <a:path h="2035609" w="1081417">
                <a:moveTo>
                  <a:pt x="0" y="0"/>
                </a:moveTo>
                <a:lnTo>
                  <a:pt x="1081417" y="0"/>
                </a:lnTo>
                <a:lnTo>
                  <a:pt x="1081417" y="2035609"/>
                </a:lnTo>
                <a:lnTo>
                  <a:pt x="0" y="2035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07233" y="1535849"/>
          <a:ext cx="17273534" cy="7639050"/>
        </p:xfrm>
        <a:graphic>
          <a:graphicData uri="http://schemas.openxmlformats.org/drawingml/2006/table">
            <a:tbl>
              <a:tblPr/>
              <a:tblGrid>
                <a:gridCol w="5465590"/>
                <a:gridCol w="5465590"/>
                <a:gridCol w="6342353"/>
              </a:tblGrid>
              <a:tr h="9955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Frontend (Cliente)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React.js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Permite crear interfaces dinámicas y rápidas para el portal de adopción y el panel administrativo de los refugios.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2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Backend (API REST)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Node.js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Entorno asíncrono ideal para manejar múltiples peticiones simultáneas, generar los PDFs de los contratos en el servidor y procesar la lógica de negocio.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2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Base de Datos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PostgreSQL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Base de datos relacional robusta. Es crucial para manejar de forma segura la estructura Multi-Tenant y mantener la integridad de los historiales médicos y legales.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1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Infraestructura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Docker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Permite empaquetar la aplicación y la base de datos en contenedores aislados, asegurando que el sistema funcione exactamente igual en los computadores de desarrollo y en el servidor final.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36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Seguridad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Bcrypt y JWT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Encriptación (Hashing) de contraseñas y datos sensibles de los adoptantes, junto con tokens (JWT) para mantener las sesiones seguras y cumplir con la privacidad.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36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Almacenamiento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Firebase Storage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Plataforma ágil para almacenar de forma segura las fotos de los animales, las imágenes de los carnets de identidad (KYC) y los contratos PDF generados.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260199" y="80975"/>
            <a:ext cx="4856613" cy="9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82"/>
              </a:lnSpc>
            </a:pPr>
            <a:r>
              <a:rPr lang="en-US" sz="5970">
                <a:solidFill>
                  <a:srgbClr val="FFFFFF"/>
                </a:solidFill>
                <a:latin typeface="Brusher"/>
                <a:ea typeface="Brusher"/>
                <a:cs typeface="Brusher"/>
                <a:sym typeface="Brusher"/>
              </a:rPr>
              <a:t>Definición 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05565" y="14891"/>
            <a:ext cx="6708876" cy="1013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55"/>
              </a:lnSpc>
              <a:spcBef>
                <a:spcPct val="0"/>
              </a:spcBef>
            </a:pPr>
            <a:r>
              <a:rPr lang="en-US" sz="6343">
                <a:solidFill>
                  <a:srgbClr val="FFFFFF"/>
                </a:solidFill>
                <a:latin typeface="Brusher"/>
                <a:ea typeface="Brusher"/>
                <a:cs typeface="Brusher"/>
                <a:sym typeface="Brusher"/>
              </a:rPr>
              <a:t>Stack</a:t>
            </a:r>
            <a:r>
              <a:rPr lang="en-US" sz="6343" strike="noStrike" u="none">
                <a:solidFill>
                  <a:srgbClr val="FFFFFF"/>
                </a:solidFill>
                <a:latin typeface="Brusher"/>
                <a:ea typeface="Brusher"/>
                <a:cs typeface="Brusher"/>
                <a:sym typeface="Brusher"/>
              </a:rPr>
              <a:t> Tecnológico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28431" y="4197630"/>
            <a:ext cx="4031138" cy="18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340"/>
              </a:lnSpc>
            </a:pPr>
            <a:r>
              <a:rPr lang="en-US" sz="11291">
                <a:solidFill>
                  <a:srgbClr val="FFFFFF"/>
                </a:solidFill>
                <a:latin typeface="Brusher"/>
                <a:ea typeface="Brusher"/>
                <a:cs typeface="Brusher"/>
                <a:sym typeface="Brusher"/>
              </a:rPr>
              <a:t>mockup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65430" y="1055489"/>
            <a:ext cx="14240068" cy="8778371"/>
          </a:xfrm>
          <a:custGeom>
            <a:avLst/>
            <a:gdLst/>
            <a:ahLst/>
            <a:cxnLst/>
            <a:rect r="r" b="b" t="t" l="l"/>
            <a:pathLst>
              <a:path h="8778371" w="14240068">
                <a:moveTo>
                  <a:pt x="0" y="0"/>
                </a:moveTo>
                <a:lnTo>
                  <a:pt x="14240067" y="0"/>
                </a:lnTo>
                <a:lnTo>
                  <a:pt x="14240067" y="8778371"/>
                </a:lnTo>
                <a:lnTo>
                  <a:pt x="0" y="87783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61893" y="-27430"/>
            <a:ext cx="6164215" cy="108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83"/>
              </a:lnSpc>
            </a:pPr>
            <a:r>
              <a:rPr lang="en-US" sz="6758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R</a:t>
            </a:r>
            <a:r>
              <a:rPr lang="en-US" sz="6758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egistro de fundacion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90971" y="1028700"/>
            <a:ext cx="12706058" cy="8957771"/>
          </a:xfrm>
          <a:custGeom>
            <a:avLst/>
            <a:gdLst/>
            <a:ahLst/>
            <a:cxnLst/>
            <a:rect r="r" b="b" t="t" l="l"/>
            <a:pathLst>
              <a:path h="8957771" w="12706058">
                <a:moveTo>
                  <a:pt x="0" y="0"/>
                </a:moveTo>
                <a:lnTo>
                  <a:pt x="12706058" y="0"/>
                </a:lnTo>
                <a:lnTo>
                  <a:pt x="12706058" y="8957771"/>
                </a:lnTo>
                <a:lnTo>
                  <a:pt x="0" y="8957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61893" y="-27430"/>
            <a:ext cx="6164215" cy="108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83"/>
              </a:lnSpc>
            </a:pPr>
            <a:r>
              <a:rPr lang="en-US" sz="6758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catalogo de adopción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54756" y="1055489"/>
            <a:ext cx="8862292" cy="9014410"/>
          </a:xfrm>
          <a:custGeom>
            <a:avLst/>
            <a:gdLst/>
            <a:ahLst/>
            <a:cxnLst/>
            <a:rect r="r" b="b" t="t" l="l"/>
            <a:pathLst>
              <a:path h="9014410" w="8862292">
                <a:moveTo>
                  <a:pt x="0" y="0"/>
                </a:moveTo>
                <a:lnTo>
                  <a:pt x="8862292" y="0"/>
                </a:lnTo>
                <a:lnTo>
                  <a:pt x="8862292" y="9014410"/>
                </a:lnTo>
                <a:lnTo>
                  <a:pt x="0" y="9014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61893" y="-27430"/>
            <a:ext cx="6164215" cy="108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83"/>
              </a:lnSpc>
            </a:pPr>
            <a:r>
              <a:rPr lang="en-US" sz="6758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postulacion de adopcion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6731" y="1548750"/>
            <a:ext cx="15594538" cy="7709550"/>
          </a:xfrm>
          <a:custGeom>
            <a:avLst/>
            <a:gdLst/>
            <a:ahLst/>
            <a:cxnLst/>
            <a:rect r="r" b="b" t="t" l="l"/>
            <a:pathLst>
              <a:path h="7709550" w="15594538">
                <a:moveTo>
                  <a:pt x="0" y="0"/>
                </a:moveTo>
                <a:lnTo>
                  <a:pt x="15594538" y="0"/>
                </a:lnTo>
                <a:lnTo>
                  <a:pt x="15594538" y="7709550"/>
                </a:lnTo>
                <a:lnTo>
                  <a:pt x="0" y="7709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5465" y="-57150"/>
            <a:ext cx="7761583" cy="108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83"/>
              </a:lnSpc>
            </a:pPr>
            <a:r>
              <a:rPr lang="en-US" sz="6758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Panel de Gestión del Refugio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74221" y="1156489"/>
            <a:ext cx="9539559" cy="8967185"/>
          </a:xfrm>
          <a:custGeom>
            <a:avLst/>
            <a:gdLst/>
            <a:ahLst/>
            <a:cxnLst/>
            <a:rect r="r" b="b" t="t" l="l"/>
            <a:pathLst>
              <a:path h="8967185" w="9539559">
                <a:moveTo>
                  <a:pt x="0" y="0"/>
                </a:moveTo>
                <a:lnTo>
                  <a:pt x="9539558" y="0"/>
                </a:lnTo>
                <a:lnTo>
                  <a:pt x="9539558" y="8967185"/>
                </a:lnTo>
                <a:lnTo>
                  <a:pt x="0" y="8967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58542" y="241025"/>
            <a:ext cx="8570916" cy="108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83"/>
              </a:lnSpc>
            </a:pPr>
            <a:r>
              <a:rPr lang="en-US" sz="6758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Vista de Validación de Identidad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62173" y="1156489"/>
            <a:ext cx="12146644" cy="8905008"/>
          </a:xfrm>
          <a:custGeom>
            <a:avLst/>
            <a:gdLst/>
            <a:ahLst/>
            <a:cxnLst/>
            <a:rect r="r" b="b" t="t" l="l"/>
            <a:pathLst>
              <a:path h="8905008" w="12146644">
                <a:moveTo>
                  <a:pt x="0" y="0"/>
                </a:moveTo>
                <a:lnTo>
                  <a:pt x="12146644" y="0"/>
                </a:lnTo>
                <a:lnTo>
                  <a:pt x="12146644" y="8905009"/>
                </a:lnTo>
                <a:lnTo>
                  <a:pt x="0" y="890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40594" y="73571"/>
            <a:ext cx="6206811" cy="108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83"/>
              </a:lnSpc>
            </a:pPr>
            <a:r>
              <a:rPr lang="en-US" sz="6758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Módulo de Seguimiento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50514" y="1245825"/>
            <a:ext cx="7381346" cy="6984599"/>
          </a:xfrm>
          <a:custGeom>
            <a:avLst/>
            <a:gdLst/>
            <a:ahLst/>
            <a:cxnLst/>
            <a:rect r="r" b="b" t="t" l="l"/>
            <a:pathLst>
              <a:path h="6984599" w="7381346">
                <a:moveTo>
                  <a:pt x="0" y="0"/>
                </a:moveTo>
                <a:lnTo>
                  <a:pt x="7381346" y="0"/>
                </a:lnTo>
                <a:lnTo>
                  <a:pt x="7381346" y="6984598"/>
                </a:lnTo>
                <a:lnTo>
                  <a:pt x="0" y="698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294762">
            <a:off x="1945017" y="4223528"/>
            <a:ext cx="5947143" cy="4274509"/>
          </a:xfrm>
          <a:custGeom>
            <a:avLst/>
            <a:gdLst/>
            <a:ahLst/>
            <a:cxnLst/>
            <a:rect r="r" b="b" t="t" l="l"/>
            <a:pathLst>
              <a:path h="4274509" w="5947143">
                <a:moveTo>
                  <a:pt x="5947142" y="0"/>
                </a:moveTo>
                <a:lnTo>
                  <a:pt x="0" y="0"/>
                </a:lnTo>
                <a:lnTo>
                  <a:pt x="0" y="4274509"/>
                </a:lnTo>
                <a:lnTo>
                  <a:pt x="5947142" y="4274509"/>
                </a:lnTo>
                <a:lnTo>
                  <a:pt x="5947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5532520"/>
            <a:ext cx="2973395" cy="3410345"/>
          </a:xfrm>
          <a:custGeom>
            <a:avLst/>
            <a:gdLst/>
            <a:ahLst/>
            <a:cxnLst/>
            <a:rect r="r" b="b" t="t" l="l"/>
            <a:pathLst>
              <a:path h="3410345" w="2973395">
                <a:moveTo>
                  <a:pt x="0" y="0"/>
                </a:moveTo>
                <a:lnTo>
                  <a:pt x="2973395" y="0"/>
                </a:lnTo>
                <a:lnTo>
                  <a:pt x="2973395" y="3410345"/>
                </a:lnTo>
                <a:lnTo>
                  <a:pt x="0" y="3410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2824" y="268250"/>
            <a:ext cx="6523032" cy="362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340"/>
              </a:lnSpc>
            </a:pPr>
            <a:r>
              <a:rPr lang="en-US" sz="11291">
                <a:solidFill>
                  <a:srgbClr val="FFFFFF"/>
                </a:solidFill>
                <a:latin typeface="Brusher"/>
                <a:ea typeface="Brusher"/>
                <a:cs typeface="Brusher"/>
                <a:sym typeface="Brusher"/>
              </a:rPr>
              <a:t>Muchas gracias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DAHT5WuORnc</dc:identifier>
  <dcterms:modified xsi:type="dcterms:W3CDTF">2011-08-01T06:04:30Z</dcterms:modified>
  <cp:revision>1</cp:revision>
  <dc:title>Huellita segura</dc:title>
</cp:coreProperties>
</file>